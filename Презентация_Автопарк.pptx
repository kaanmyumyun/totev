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ff2a55cd-8fda-445a-01d6-38ee98a7c3fa}">
          <p14:sldIdLst>
            <p14:sldId id="256"/>
            <p14:sldId id="257"/>
          </p14:sldIdLst>
        </p14:section>
        <p14:section name="Решение" id="{3aa85e41-8f92-a88e-3b69-2e45d30208b0}">
          <p14:sldIdLst>
            <p14:sldId id="258"/>
            <p14:sldId id="259"/>
            <p14:sldId id="260"/>
            <p14:sldId id="261"/>
          </p14:sldIdLst>
        </p14:section>
        <p14:section name="Логика и интерфейс" id="{14122adf-496f-5871-1ffa-6692f75abd4e}">
          <p14:sldIdLst>
            <p14:sldId id="262"/>
            <p14:sldId id="263"/>
            <p14:sldId id="264"/>
            <p14:sldId id="265"/>
          </p14:sldIdLst>
        </p14:section>
        <p14:section name="Качество и внедряване" id="{a8460597-ec04-2109-7a7c-ac38daf51ed2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A"/>
                </a:solidFill>
                <a:latin typeface="+mn-lt"/>
              </a:rPr>
              <a:t>Разходи на автопарка по месеци, 2026 г. (€)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Гориво</c:v>
                </c:pt>
              </c:strCache>
            </c:strRef>
          </c:tx>
          <c:spPr>
            <a:solidFill>
              <a:srgbClr val="2F7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яну 2026</c:v>
                  </c:pt>
                  <c:pt idx="1">
                    <c:v>фев 2026</c:v>
                  </c:pt>
                  <c:pt idx="2">
                    <c:v>мар 2026</c:v>
                  </c:pt>
                  <c:pt idx="3">
                    <c:v>апр 2026</c:v>
                  </c:pt>
                  <c:pt idx="4">
                    <c:v>май 2026</c:v>
                  </c:pt>
                  <c:pt idx="5">
                    <c:v>юни 2026</c:v>
                  </c:pt>
                  <c:pt idx="6">
                    <c:v>юли 2026</c:v>
                  </c:pt>
                  <c:pt idx="7">
                    <c:v>авг 2026</c:v>
                  </c:pt>
                  <c:pt idx="8">
                    <c:v>сеп 2026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13117</c:v>
                </c:pt>
                <c:pt idx="1">
                  <c:v>12256</c:v>
                </c:pt>
                <c:pt idx="2">
                  <c:v>14599</c:v>
                </c:pt>
                <c:pt idx="3">
                  <c:v>14688</c:v>
                </c:pt>
                <c:pt idx="4">
                  <c:v>13954</c:v>
                </c:pt>
                <c:pt idx="5">
                  <c:v>12645</c:v>
                </c:pt>
                <c:pt idx="6">
                  <c:v>13535</c:v>
                </c:pt>
                <c:pt idx="7">
                  <c:v>12039</c:v>
                </c:pt>
                <c:pt idx="8">
                  <c:v>12775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Обслужване и ремонти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яну 2026</c:v>
                  </c:pt>
                  <c:pt idx="1">
                    <c:v>фев 2026</c:v>
                  </c:pt>
                  <c:pt idx="2">
                    <c:v>мар 2026</c:v>
                  </c:pt>
                  <c:pt idx="3">
                    <c:v>апр 2026</c:v>
                  </c:pt>
                  <c:pt idx="4">
                    <c:v>май 2026</c:v>
                  </c:pt>
                  <c:pt idx="5">
                    <c:v>юни 2026</c:v>
                  </c:pt>
                  <c:pt idx="6">
                    <c:v>юли 2026</c:v>
                  </c:pt>
                  <c:pt idx="7">
                    <c:v>авг 2026</c:v>
                  </c:pt>
                  <c:pt idx="8">
                    <c:v>сеп 2026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3174</c:v>
                </c:pt>
                <c:pt idx="1">
                  <c:v>1409</c:v>
                </c:pt>
                <c:pt idx="2">
                  <c:v>1249</c:v>
                </c:pt>
                <c:pt idx="3">
                  <c:v>2568</c:v>
                </c:pt>
                <c:pt idx="4">
                  <c:v>1539</c:v>
                </c:pt>
                <c:pt idx="5">
                  <c:v>1261</c:v>
                </c:pt>
                <c:pt idx="6">
                  <c:v>2189</c:v>
                </c:pt>
                <c:pt idx="7">
                  <c:v>2385</c:v>
                </c:pt>
                <c:pt idx="8">
                  <c:v>1229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Застраховки</c:v>
                </c:pt>
              </c:strCache>
            </c:strRef>
          </c:tx>
          <c:spPr>
            <a:solidFill>
              <a:srgbClr val="6F42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яну 2026</c:v>
                  </c:pt>
                  <c:pt idx="1">
                    <c:v>фев 2026</c:v>
                  </c:pt>
                  <c:pt idx="2">
                    <c:v>мар 2026</c:v>
                  </c:pt>
                  <c:pt idx="3">
                    <c:v>апр 2026</c:v>
                  </c:pt>
                  <c:pt idx="4">
                    <c:v>май 2026</c:v>
                  </c:pt>
                  <c:pt idx="5">
                    <c:v>юни 2026</c:v>
                  </c:pt>
                  <c:pt idx="6">
                    <c:v>юли 2026</c:v>
                  </c:pt>
                  <c:pt idx="7">
                    <c:v>авг 2026</c:v>
                  </c:pt>
                  <c:pt idx="8">
                    <c:v>сеп 2026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4807</c:v>
                </c:pt>
                <c:pt idx="1">
                  <c:v>2698</c:v>
                </c:pt>
                <c:pt idx="2">
                  <c:v>984</c:v>
                </c:pt>
                <c:pt idx="3">
                  <c:v>1239</c:v>
                </c:pt>
                <c:pt idx="4">
                  <c:v>545</c:v>
                </c:pt>
                <c:pt idx="5">
                  <c:v>2414</c:v>
                </c:pt>
                <c:pt idx="6">
                  <c:v>599</c:v>
                </c:pt>
                <c:pt idx="7">
                  <c:v>256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6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Здравейте. Ще представя курсовия си проект по Информационни системи – Вариант 19: система за управление на автопарк. Това е уеб приложение, в което фирма с много автомобили води регистър на МПС, следи поддръжката и разходите и вижда кой шофьор кой автомобил ползва. Вдясно е таблото, което потребителят вижда веднага след вход.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Проблемът: при много автомобили лесно се пропуска технически преглед или застраховка, а историята на ремонтите и разходите е разпръсната. Целта е една система, която дава цялостен поглед върху автопарка и напомня сама, преди да изтече срок.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Системата покрива всички функционални изисквания от заданието: регистър на МПС, план за поддръжка с интервали по километри и по дни, напомняния, история на ремонтите и зарежданията, шофьори и курсове и справки. Допълнително има застраховки, роли на потребителите и експорт в Excel и в календар.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Приложението е уеб базирано, с трислойна архитектура. Уеб слоят приема заявките и проверява правата, бизнес логиката изчислява сроковете и разходите, а слоят за данни работи с базата чрез ORM. Избрах SQLite, защото е лесна за поддръжка и архивиране; при нужда може да се смени с PostgreSQL само с една настройка.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Базата има 11 таблици. В центъра е таблицата с превозните средства, а към нея са свързани планът за поддръжка, ремонтите, зарежданията, курсовете, застраховките и отчетите на километража. Целостта се пази и от самата база: външни ключове, проверки CHECK и уникални индекси. МПС с история не може да бъде изтрито – само спряно от движение.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Както предлага заданието, има роли: механикът въвежда ремонти, логистикът – горивата и курсовете, мениджърът вижда отчетите, а администраторът управлява потребителите. Всяко ограничение се проверява на сървъра, така че не може да се заобиколи с директен адрес.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Сърцето на системата е проверката на обслужването. За всяка дейност от плана се взема последното ѝ извършване, добавя се интервалът и се сравнява с днешната дата и с текущия пробег. Ако единият срок е минал – дейността е просрочена; ако остават до 30 дни или до 1000 км – предстои. Системата прогнозира и датата по средния дневен пробег, а резултатът може да се изнесе в Google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Важен критерий в заданието е последователното съхранение на данните. Всеки запис с километраж се проверява спрямо историята: пробегът не може да намалява, а нереалистично голям скок се отхвърля – така се хваща една нула в повече. На екрана е пример: въведеният километраж е по-малък от началния и системата показва грешка до полето.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Интерфейсът е на български и е направен за нетехнически потребители. При връщане от курс логистикът въвежда с един формуляр новия пробег, зареденото гориво и евентуален проблем – тогава колата автоматично отива в статус „В ремонт“. Картата на всяко МПС събира на едно място плана, застраховките, историята и разходите.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Справките отговарят на въпросите на мениджъра: кои МПС имат обслужване скоро, колко струва всяко МПС за избран период и на километър, кои коли са неактивни, какъв е разходът на гориво и кой шофьор кое МПС е ползвал. Графиката показва разходите на демонстрационния автопарк по месеци – горивото е най-голямото перо.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Качеството е проверено със 154 автоматични теста – модулни, интеграционни и през интерфейса, включително граничните случаи: точно на срока, намаляващ километраж, несъществуващо МПС. Покритието на кода е 89 процента. По сигурността: паролите са хеширани, профилът се заключва след пет грешни опита, има CSRF защита, заявките са параметризирани, а всички действия се записват в журнал.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Системата се внедрява с Docker с една команда; при срив се рестартира сама, а базата се архивира всеки ден. Като бъдещо развитие виждам известия по имейл, мобилен изглед за шофьорите и импорт от картите за гориво. В заключение: всички изисквания от заданието са изпълнени и проверени с тестове. Благодаря за вниманието – ще се радвам на въпроси.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3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</a:rPr>
              <a:t>Система за управление на автопарк · Вариант 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63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BDD"/>
                </a:solidFill>
              </a:rPr>
              <a:t>Система за управление на автопарк · Вариант 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B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Система за управление на автопарк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Курсов проект по „Информационни системи“ · Вариант 19</a:t>
            </a:r>
            <a:endParaRPr lang="en-US" sz="1800" dirty="0"/>
          </a:p>
        </p:txBody>
      </p:sp>
      <p:sp>
        <p:nvSpPr>
          <p:cNvPr id="4" name="author"/>
          <p:cNvSpPr txBox="1"/>
          <p:nvPr/>
        </p:nvSpPr>
        <p:spPr>
          <a:xfrm>
            <a:off x="640080" y="4846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BDD"/>
                </a:solidFill>
              </a:rPr>
              <a:t>Изготвил: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[Име Фамилия], фак. № [_______]</a:t>
            </a:r>
            <a:endParaRPr lang="en-US" sz="1600" dirty="0"/>
          </a:p>
        </p:txBody>
      </p:sp>
      <p:sp>
        <p:nvSpPr>
          <p:cNvPr id="5" name="tech line"/>
          <p:cNvSpPr txBox="1"/>
          <p:nvPr/>
        </p:nvSpPr>
        <p:spPr>
          <a:xfrm>
            <a:off x="640080" y="5349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</a:rPr>
              <a:t>Flask · SQLite · Bootstrap · Docker</a:t>
            </a:r>
            <a:endParaRPr lang="en-US" sz="1400" dirty="0"/>
          </a:p>
        </p:txBody>
      </p:sp>
      <p:pic>
        <p:nvPicPr>
          <p:cNvPr id="6" name="dashboard screenshot" descr="Табло на система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17320"/>
            <a:ext cx="4754880" cy="29718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B2A3A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Защо е нужна системата</a:t>
            </a:r>
            <a:endParaRPr lang="en-US" sz="3400" dirty="0"/>
          </a:p>
        </p:txBody>
      </p:sp>
      <p:sp>
        <p:nvSpPr>
          <p:cNvPr id="3" name="problem 1 circle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4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23060"/>
            <a:ext cx="411480" cy="411480"/>
          </a:xfrm>
          <a:prstGeom prst="rect">
            <a:avLst/>
          </a:prstGeom>
        </p:spPr>
      </p:pic>
      <p:sp>
        <p:nvSpPr>
          <p:cNvPr id="5" name="problem title 1"/>
          <p:cNvSpPr txBox="1"/>
          <p:nvPr/>
        </p:nvSpPr>
        <p:spPr>
          <a:xfrm>
            <a:off x="160020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Пропуснати срокове</a:t>
            </a:r>
            <a:endParaRPr lang="en-US" sz="2000" dirty="0"/>
          </a:p>
        </p:txBody>
      </p:sp>
      <p:sp>
        <p:nvSpPr>
          <p:cNvPr id="6" name="problem text 1"/>
          <p:cNvSpPr txBox="1"/>
          <p:nvPr/>
        </p:nvSpPr>
        <p:spPr>
          <a:xfrm>
            <a:off x="1600200" y="18288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</a:rPr>
              <a:t>Изтекъл технически преглед или застраховка, закъсняла смяна на масло – глоби и аварии</a:t>
            </a:r>
            <a:endParaRPr lang="en-US" sz="1500" dirty="0"/>
          </a:p>
        </p:txBody>
      </p:sp>
      <p:sp>
        <p:nvSpPr>
          <p:cNvPr id="7" name="problem 2 circle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8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131820"/>
            <a:ext cx="411480" cy="411480"/>
          </a:xfrm>
          <a:prstGeom prst="rect">
            <a:avLst/>
          </a:prstGeom>
        </p:spPr>
      </p:pic>
      <p:sp>
        <p:nvSpPr>
          <p:cNvPr id="9" name="problem title 2"/>
          <p:cNvSpPr txBox="1"/>
          <p:nvPr/>
        </p:nvSpPr>
        <p:spPr>
          <a:xfrm>
            <a:off x="1600200" y="29077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Разпръснати данни</a:t>
            </a:r>
            <a:endParaRPr lang="en-US" sz="2000" dirty="0"/>
          </a:p>
        </p:txBody>
      </p:sp>
      <p:sp>
        <p:nvSpPr>
          <p:cNvPr id="10" name="problem text 2"/>
          <p:cNvSpPr txBox="1"/>
          <p:nvPr/>
        </p:nvSpPr>
        <p:spPr>
          <a:xfrm>
            <a:off x="1600200" y="33375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</a:rPr>
              <a:t>Хартия и таблици – трудно се проследява историята на всяко МПС</a:t>
            </a:r>
            <a:endParaRPr lang="en-US" sz="1500" dirty="0"/>
          </a:p>
        </p:txBody>
      </p:sp>
      <p:sp>
        <p:nvSpPr>
          <p:cNvPr id="11" name="problem 3 circle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12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640580"/>
            <a:ext cx="411480" cy="411480"/>
          </a:xfrm>
          <a:prstGeom prst="rect">
            <a:avLst/>
          </a:prstGeom>
        </p:spPr>
      </p:pic>
      <p:sp>
        <p:nvSpPr>
          <p:cNvPr id="13" name="problem title 3"/>
          <p:cNvSpPr txBox="1"/>
          <p:nvPr/>
        </p:nvSpPr>
        <p:spPr>
          <a:xfrm>
            <a:off x="1600200" y="44165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Неясни разходи</a:t>
            </a:r>
            <a:endParaRPr lang="en-US" sz="2000" dirty="0"/>
          </a:p>
        </p:txBody>
      </p:sp>
      <p:sp>
        <p:nvSpPr>
          <p:cNvPr id="14" name="problem text 3"/>
          <p:cNvSpPr txBox="1"/>
          <p:nvPr/>
        </p:nvSpPr>
        <p:spPr>
          <a:xfrm>
            <a:off x="1600200" y="48463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</a:rPr>
              <a:t>Колко струва всеки автомобил на месец и на километър?</a:t>
            </a:r>
            <a:endParaRPr lang="en-US" sz="1500" dirty="0"/>
          </a:p>
        </p:txBody>
      </p:sp>
      <p:sp>
        <p:nvSpPr>
          <p:cNvPr id="15" name="goal card"/>
          <p:cNvSpPr/>
          <p:nvPr/>
        </p:nvSpPr>
        <p:spPr>
          <a:xfrm>
            <a:off x="6492240" y="141732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</p:sp>
      <p:sp>
        <p:nvSpPr>
          <p:cNvPr id="16" name="goal label"/>
          <p:cNvSpPr txBox="1"/>
          <p:nvPr/>
        </p:nvSpPr>
        <p:spPr>
          <a:xfrm>
            <a:off x="685800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33A"/>
                </a:solidFill>
              </a:rPr>
              <a:t>Цел на проекта</a:t>
            </a:r>
            <a:endParaRPr lang="en-US" sz="1600" dirty="0"/>
          </a:p>
        </p:txBody>
      </p:sp>
      <p:sp>
        <p:nvSpPr>
          <p:cNvPr id="17" name="goal statement"/>
          <p:cNvSpPr txBox="1"/>
          <p:nvPr/>
        </p:nvSpPr>
        <p:spPr>
          <a:xfrm>
            <a:off x="6858000" y="21945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Една система, която показва наличните МПС, техния статус и предстоящата поддръжка – и сама напомня кога е време за обслужване.</a:t>
            </a:r>
            <a:endParaRPr lang="en-US" sz="2400" dirty="0"/>
          </a:p>
        </p:txBody>
      </p:sp>
      <p:sp>
        <p:nvSpPr>
          <p:cNvPr id="18" name="goal result"/>
          <p:cNvSpPr txBox="1"/>
          <p:nvPr/>
        </p:nvSpPr>
        <p:spPr>
          <a:xfrm>
            <a:off x="6858000" y="47548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9CBDD"/>
                </a:solidFill>
              </a:rPr>
              <a:t>Резултат: по-добро планиране на поддръжката и разходите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Какво прави системата</a:t>
            </a:r>
            <a:endParaRPr lang="en-US" sz="3400" dirty="0"/>
          </a:p>
        </p:txBody>
      </p:sp>
      <p:sp>
        <p:nvSpPr>
          <p:cNvPr id="3" name="feature card 1"/>
          <p:cNvSpPr/>
          <p:nvPr/>
        </p:nvSpPr>
        <p:spPr>
          <a:xfrm>
            <a:off x="54864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feature title 1"/>
          <p:cNvSpPr txBox="1"/>
          <p:nvPr/>
        </p:nvSpPr>
        <p:spPr>
          <a:xfrm>
            <a:off x="82296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Регистър на МПС</a:t>
            </a:r>
            <a:endParaRPr lang="en-US" sz="1800" dirty="0"/>
          </a:p>
        </p:txBody>
      </p:sp>
      <p:sp>
        <p:nvSpPr>
          <p:cNvPr id="7" name="feature text 1"/>
          <p:cNvSpPr txBox="1"/>
          <p:nvPr/>
        </p:nvSpPr>
        <p:spPr>
          <a:xfrm>
            <a:off x="822960" y="28529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Номер, марка, модел, година, тип, пробег и статус</a:t>
            </a:r>
            <a:endParaRPr lang="en-US" sz="1400" dirty="0"/>
          </a:p>
        </p:txBody>
      </p:sp>
      <p:sp>
        <p:nvSpPr>
          <p:cNvPr id="8" name="feature card 2"/>
          <p:cNvSpPr/>
          <p:nvPr/>
        </p:nvSpPr>
        <p:spPr>
          <a:xfrm>
            <a:off x="429768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eature 2 circle"/>
          <p:cNvSpPr/>
          <p:nvPr/>
        </p:nvSpPr>
        <p:spPr>
          <a:xfrm>
            <a:off x="4572000" y="1645920"/>
            <a:ext cx="685800" cy="6858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817370"/>
            <a:ext cx="342900" cy="342900"/>
          </a:xfrm>
          <a:prstGeom prst="rect">
            <a:avLst/>
          </a:prstGeom>
        </p:spPr>
      </p:pic>
      <p:sp>
        <p:nvSpPr>
          <p:cNvPr id="11" name="feature title 2"/>
          <p:cNvSpPr txBox="1"/>
          <p:nvPr/>
        </p:nvSpPr>
        <p:spPr>
          <a:xfrm>
            <a:off x="45720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План за поддръжка</a:t>
            </a:r>
            <a:endParaRPr lang="en-US" sz="1800" dirty="0"/>
          </a:p>
        </p:txBody>
      </p:sp>
      <p:sp>
        <p:nvSpPr>
          <p:cNvPr id="12" name="feature text 2"/>
          <p:cNvSpPr txBox="1"/>
          <p:nvPr/>
        </p:nvSpPr>
        <p:spPr>
          <a:xfrm>
            <a:off x="4572000" y="28529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Дейности на всеки N км и/или на всеки N дни</a:t>
            </a:r>
            <a:endParaRPr lang="en-US" sz="1400" dirty="0"/>
          </a:p>
        </p:txBody>
      </p:sp>
      <p:sp>
        <p:nvSpPr>
          <p:cNvPr id="13" name="feature card 3"/>
          <p:cNvSpPr/>
          <p:nvPr/>
        </p:nvSpPr>
        <p:spPr>
          <a:xfrm>
            <a:off x="804672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eature 3 circle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817370"/>
            <a:ext cx="342900" cy="342900"/>
          </a:xfrm>
          <a:prstGeom prst="rect">
            <a:avLst/>
          </a:prstGeom>
        </p:spPr>
      </p:pic>
      <p:sp>
        <p:nvSpPr>
          <p:cNvPr id="16" name="feature title 3"/>
          <p:cNvSpPr txBox="1"/>
          <p:nvPr/>
        </p:nvSpPr>
        <p:spPr>
          <a:xfrm>
            <a:off x="832104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Напомняния</a:t>
            </a:r>
            <a:endParaRPr lang="en-US" sz="1800" dirty="0"/>
          </a:p>
        </p:txBody>
      </p:sp>
      <p:sp>
        <p:nvSpPr>
          <p:cNvPr id="17" name="feature text 3"/>
          <p:cNvSpPr txBox="1"/>
          <p:nvPr/>
        </p:nvSpPr>
        <p:spPr>
          <a:xfrm>
            <a:off x="8321040" y="28529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По дата или по пробег – което настъпи първо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54864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eature 4 circle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194810"/>
            <a:ext cx="342900" cy="342900"/>
          </a:xfrm>
          <a:prstGeom prst="rect">
            <a:avLst/>
          </a:prstGeom>
        </p:spPr>
      </p:pic>
      <p:sp>
        <p:nvSpPr>
          <p:cNvPr id="21" name="feature title 4"/>
          <p:cNvSpPr txBox="1"/>
          <p:nvPr/>
        </p:nvSpPr>
        <p:spPr>
          <a:xfrm>
            <a:off x="82296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Ремонти и гориво</a:t>
            </a:r>
            <a:endParaRPr lang="en-US" sz="1800" dirty="0"/>
          </a:p>
        </p:txBody>
      </p:sp>
      <p:sp>
        <p:nvSpPr>
          <p:cNvPr id="22" name="feature text 4"/>
          <p:cNvSpPr txBox="1"/>
          <p:nvPr/>
        </p:nvSpPr>
        <p:spPr>
          <a:xfrm>
            <a:off x="822960" y="52303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Дата, описание, цена, километраж; сумата се смята сама</a:t>
            </a:r>
            <a:endParaRPr lang="en-US" sz="1400" dirty="0"/>
          </a:p>
        </p:txBody>
      </p:sp>
      <p:sp>
        <p:nvSpPr>
          <p:cNvPr id="23" name="feature card 5"/>
          <p:cNvSpPr/>
          <p:nvPr/>
        </p:nvSpPr>
        <p:spPr>
          <a:xfrm>
            <a:off x="429768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eature 5 circle"/>
          <p:cNvSpPr/>
          <p:nvPr/>
        </p:nvSpPr>
        <p:spPr>
          <a:xfrm>
            <a:off x="4572000" y="4023360"/>
            <a:ext cx="685800" cy="6858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194810"/>
            <a:ext cx="342900" cy="342900"/>
          </a:xfrm>
          <a:prstGeom prst="rect">
            <a:avLst/>
          </a:prstGeom>
        </p:spPr>
      </p:pic>
      <p:sp>
        <p:nvSpPr>
          <p:cNvPr id="26" name="feature title 5"/>
          <p:cNvSpPr txBox="1"/>
          <p:nvPr/>
        </p:nvSpPr>
        <p:spPr>
          <a:xfrm>
            <a:off x="457200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Шофьори и курсове</a:t>
            </a:r>
            <a:endParaRPr lang="en-US" sz="1800" dirty="0"/>
          </a:p>
        </p:txBody>
      </p:sp>
      <p:sp>
        <p:nvSpPr>
          <p:cNvPr id="27" name="feature text 5"/>
          <p:cNvSpPr txBox="1"/>
          <p:nvPr/>
        </p:nvSpPr>
        <p:spPr>
          <a:xfrm>
            <a:off x="4572000" y="52303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Кой, с кое МПС, кога и колко километра</a:t>
            </a:r>
            <a:endParaRPr lang="en-US" sz="1400" dirty="0"/>
          </a:p>
        </p:txBody>
      </p:sp>
      <p:sp>
        <p:nvSpPr>
          <p:cNvPr id="28" name="feature card 6"/>
          <p:cNvSpPr/>
          <p:nvPr/>
        </p:nvSpPr>
        <p:spPr>
          <a:xfrm>
            <a:off x="804672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eature 6 circle"/>
          <p:cNvSpPr/>
          <p:nvPr/>
        </p:nvSpPr>
        <p:spPr>
          <a:xfrm>
            <a:off x="8321040" y="4023360"/>
            <a:ext cx="685800" cy="6858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194810"/>
            <a:ext cx="342900" cy="342900"/>
          </a:xfrm>
          <a:prstGeom prst="rect">
            <a:avLst/>
          </a:prstGeom>
        </p:spPr>
      </p:pic>
      <p:sp>
        <p:nvSpPr>
          <p:cNvPr id="31" name="feature title 6"/>
          <p:cNvSpPr txBox="1"/>
          <p:nvPr/>
        </p:nvSpPr>
        <p:spPr>
          <a:xfrm>
            <a:off x="832104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Справки</a:t>
            </a:r>
            <a:endParaRPr lang="en-US" sz="1800" dirty="0"/>
          </a:p>
        </p:txBody>
      </p:sp>
      <p:sp>
        <p:nvSpPr>
          <p:cNvPr id="32" name="feature text 6"/>
          <p:cNvSpPr txBox="1"/>
          <p:nvPr/>
        </p:nvSpPr>
        <p:spPr>
          <a:xfrm>
            <a:off x="8321040" y="52303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Разходи, график на обслужванията, неактивни МПС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Архитектура и технологии</a:t>
            </a:r>
            <a:endParaRPr lang="en-US" sz="3400" dirty="0"/>
          </a:p>
        </p:txBody>
      </p:sp>
      <p:pic>
        <p:nvPicPr>
          <p:cNvPr id="3" name="architecture diagram" descr="Диаграма на архитектурата: браузър, gunicorn, Flask (сигурност, уеб слой, бизнес логика, ORM), SQLite и резервни копи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1325880"/>
            <a:ext cx="4414723" cy="4892040"/>
          </a:xfrm>
          <a:prstGeom prst="rect">
            <a:avLst/>
          </a:prstGeom>
        </p:spPr>
      </p:pic>
      <p:sp>
        <p:nvSpPr>
          <p:cNvPr id="4" name="layer 1 circle"/>
          <p:cNvSpPr/>
          <p:nvPr/>
        </p:nvSpPr>
        <p:spPr>
          <a:xfrm>
            <a:off x="5989320" y="1417320"/>
            <a:ext cx="685800" cy="68580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5" name="layer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770" y="1588770"/>
            <a:ext cx="342900" cy="342900"/>
          </a:xfrm>
          <a:prstGeom prst="rect">
            <a:avLst/>
          </a:prstGeom>
        </p:spPr>
      </p:pic>
      <p:sp>
        <p:nvSpPr>
          <p:cNvPr id="6" name="layer title 1"/>
          <p:cNvSpPr txBox="1"/>
          <p:nvPr/>
        </p:nvSpPr>
        <p:spPr>
          <a:xfrm>
            <a:off x="6858000" y="1389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Уеб слой</a:t>
            </a:r>
            <a:endParaRPr lang="en-US" sz="1800" dirty="0"/>
          </a:p>
        </p:txBody>
      </p:sp>
      <p:sp>
        <p:nvSpPr>
          <p:cNvPr id="7" name="layer text 1"/>
          <p:cNvSpPr txBox="1"/>
          <p:nvPr/>
        </p:nvSpPr>
        <p:spPr>
          <a:xfrm>
            <a:off x="6858000" y="17556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Flask 3.1, Jinja2, Bootstrap 5, Chart.js – интерфейс на български</a:t>
            </a:r>
            <a:endParaRPr lang="en-US" sz="1400" dirty="0"/>
          </a:p>
        </p:txBody>
      </p:sp>
      <p:sp>
        <p:nvSpPr>
          <p:cNvPr id="8" name="layer 2 circle"/>
          <p:cNvSpPr/>
          <p:nvPr/>
        </p:nvSpPr>
        <p:spPr>
          <a:xfrm>
            <a:off x="5989320" y="2606040"/>
            <a:ext cx="685800" cy="68580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9" name="layer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770" y="2777490"/>
            <a:ext cx="342900" cy="342900"/>
          </a:xfrm>
          <a:prstGeom prst="rect">
            <a:avLst/>
          </a:prstGeom>
        </p:spPr>
      </p:pic>
      <p:sp>
        <p:nvSpPr>
          <p:cNvPr id="10" name="layer title 2"/>
          <p:cNvSpPr txBox="1"/>
          <p:nvPr/>
        </p:nvSpPr>
        <p:spPr>
          <a:xfrm>
            <a:off x="6858000" y="2578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Бизнес логика</a:t>
            </a:r>
            <a:endParaRPr lang="en-US" sz="1800" dirty="0"/>
          </a:p>
        </p:txBody>
      </p:sp>
      <p:sp>
        <p:nvSpPr>
          <p:cNvPr id="11" name="layer text 2"/>
          <p:cNvSpPr txBox="1"/>
          <p:nvPr/>
        </p:nvSpPr>
        <p:spPr>
          <a:xfrm>
            <a:off x="6858000" y="294436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Напомняния, километраж, разходи, курсове – тества се отделно</a:t>
            </a:r>
            <a:endParaRPr lang="en-US" sz="1400" dirty="0"/>
          </a:p>
        </p:txBody>
      </p:sp>
      <p:sp>
        <p:nvSpPr>
          <p:cNvPr id="12" name="layer 3 circle"/>
          <p:cNvSpPr/>
          <p:nvPr/>
        </p:nvSpPr>
        <p:spPr>
          <a:xfrm>
            <a:off x="5989320" y="3794760"/>
            <a:ext cx="685800" cy="68580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13" name="layer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770" y="3966210"/>
            <a:ext cx="342900" cy="342900"/>
          </a:xfrm>
          <a:prstGeom prst="rect">
            <a:avLst/>
          </a:prstGeom>
        </p:spPr>
      </p:pic>
      <p:sp>
        <p:nvSpPr>
          <p:cNvPr id="14" name="layer title 3"/>
          <p:cNvSpPr txBox="1"/>
          <p:nvPr/>
        </p:nvSpPr>
        <p:spPr>
          <a:xfrm>
            <a:off x="6858000" y="3767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Данни</a:t>
            </a:r>
            <a:endParaRPr lang="en-US" sz="1800" dirty="0"/>
          </a:p>
        </p:txBody>
      </p:sp>
      <p:sp>
        <p:nvSpPr>
          <p:cNvPr id="15" name="layer text 3"/>
          <p:cNvSpPr txBox="1"/>
          <p:nvPr/>
        </p:nvSpPr>
        <p:spPr>
          <a:xfrm>
            <a:off x="6858000" y="41330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SQLAlchemy 2 + SQLite, 11 таблици с ограничения за целостта</a:t>
            </a:r>
            <a:endParaRPr lang="en-US" sz="1400" dirty="0"/>
          </a:p>
        </p:txBody>
      </p:sp>
      <p:sp>
        <p:nvSpPr>
          <p:cNvPr id="16" name="layer 4 circle"/>
          <p:cNvSpPr/>
          <p:nvPr/>
        </p:nvSpPr>
        <p:spPr>
          <a:xfrm>
            <a:off x="5989320" y="4983480"/>
            <a:ext cx="685800" cy="68580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17" name="layer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770" y="5154930"/>
            <a:ext cx="342900" cy="342900"/>
          </a:xfrm>
          <a:prstGeom prst="rect">
            <a:avLst/>
          </a:prstGeom>
        </p:spPr>
      </p:pic>
      <p:sp>
        <p:nvSpPr>
          <p:cNvPr id="18" name="layer title 4"/>
          <p:cNvSpPr txBox="1"/>
          <p:nvPr/>
        </p:nvSpPr>
        <p:spPr>
          <a:xfrm>
            <a:off x="6858000" y="4956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Внедряване</a:t>
            </a:r>
            <a:endParaRPr lang="en-US" sz="1800" dirty="0"/>
          </a:p>
        </p:txBody>
      </p:sp>
      <p:sp>
        <p:nvSpPr>
          <p:cNvPr id="19" name="layer text 4"/>
          <p:cNvSpPr txBox="1"/>
          <p:nvPr/>
        </p:nvSpPr>
        <p:spPr>
          <a:xfrm>
            <a:off x="6858000" y="53218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gunicorn и Docker Compose, автоматичен рестарт и ежедневен архив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Модел на данните</a:t>
            </a:r>
            <a:endParaRPr lang="en-US" sz="3400" dirty="0"/>
          </a:p>
        </p:txBody>
      </p:sp>
      <p:pic>
        <p:nvPicPr>
          <p:cNvPr id="3" name="er diagram" descr="ER диаграма: vehicles в центъра, свързани с план, ремонти, зареждания, курсове, застраховки и отчети на километраж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4279392"/>
          </a:xfrm>
          <a:prstGeom prst="rect">
            <a:avLst/>
          </a:prstGeom>
        </p:spPr>
      </p:pic>
      <p:sp>
        <p:nvSpPr>
          <p:cNvPr id="4" name="stat value 1"/>
          <p:cNvSpPr txBox="1"/>
          <p:nvPr/>
        </p:nvSpPr>
        <p:spPr>
          <a:xfrm>
            <a:off x="8778240" y="1463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5" name="stat label 1"/>
          <p:cNvSpPr txBox="1"/>
          <p:nvPr/>
        </p:nvSpPr>
        <p:spPr>
          <a:xfrm>
            <a:off x="8778240" y="2194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таблици, в центъра е vehicles (МПС)</a:t>
            </a:r>
            <a:endParaRPr lang="en-US" sz="1400" dirty="0"/>
          </a:p>
        </p:txBody>
      </p:sp>
      <p:sp>
        <p:nvSpPr>
          <p:cNvPr id="6" name="stat value 2"/>
          <p:cNvSpPr txBox="1"/>
          <p:nvPr/>
        </p:nvSpPr>
        <p:spPr>
          <a:xfrm>
            <a:off x="8778240" y="3063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FK + CHECK</a:t>
            </a:r>
            <a:endParaRPr lang="en-US" sz="3000" dirty="0"/>
          </a:p>
        </p:txBody>
      </p:sp>
      <p:sp>
        <p:nvSpPr>
          <p:cNvPr id="7" name="stat label 2"/>
          <p:cNvSpPr txBox="1"/>
          <p:nvPr/>
        </p:nvSpPr>
        <p:spPr>
          <a:xfrm>
            <a:off x="877824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базата отказва невалидни данни</a:t>
            </a:r>
            <a:endParaRPr lang="en-US" sz="1400" dirty="0"/>
          </a:p>
        </p:txBody>
      </p:sp>
      <p:sp>
        <p:nvSpPr>
          <p:cNvPr id="8" name="stat value 3"/>
          <p:cNvSpPr txBox="1"/>
          <p:nvPr/>
        </p:nvSpPr>
        <p:spPr>
          <a:xfrm>
            <a:off x="8778240" y="4663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</a:t>
            </a:r>
            <a:endParaRPr lang="en-US" sz="3000" dirty="0"/>
          </a:p>
        </p:txBody>
      </p:sp>
      <p:sp>
        <p:nvSpPr>
          <p:cNvPr id="9" name="stat label 3"/>
          <p:cNvSpPr txBox="1"/>
          <p:nvPr/>
        </p:nvSpPr>
        <p:spPr>
          <a:xfrm>
            <a:off x="8778240" y="5394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историята на МПС не може да се изтрие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Роли и права</a:t>
            </a:r>
            <a:endParaRPr lang="en-US" sz="3400" dirty="0"/>
          </a:p>
        </p:txBody>
      </p:sp>
      <p:graphicFrame>
        <p:nvGraphicFramePr>
          <p:cNvPr id="7" name="ro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645920"/>
                <a:gridCol w="1645920"/>
                <a:gridCol w="164592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Действие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Механик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Логистик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Мениджър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Администратор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</a:rPr>
                        <a:t>Преглед на МПС и „Провери обслужване“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</a:rPr>
                        <a:t>Ремонти и план за поддръжка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B1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</a:rPr>
                        <a:t>Гориво, курсове и шофьори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B1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</a:rPr>
                        <a:t>Регистър на МПС, застраховки, отчет за разходи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B1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B1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</a:rPr>
                        <a:t>Изтриване на записи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B1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B1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</a:rPr>
                        <a:t>Потребители и журнал на действията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B1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B1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AA5B1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A"/>
                          </a:solidFill>
                        </a:rPr>
                        <a:t>да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server check circle"/>
          <p:cNvSpPr/>
          <p:nvPr/>
        </p:nvSpPr>
        <p:spPr>
          <a:xfrm>
            <a:off x="548640" y="5166360"/>
            <a:ext cx="594360" cy="59436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5" name="server chec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5314950"/>
            <a:ext cx="297180" cy="297180"/>
          </a:xfrm>
          <a:prstGeom prst="rect">
            <a:avLst/>
          </a:prstGeom>
        </p:spPr>
      </p:pic>
      <p:sp>
        <p:nvSpPr>
          <p:cNvPr id="6" name="server check text"/>
          <p:cNvSpPr txBox="1"/>
          <p:nvPr/>
        </p:nvSpPr>
        <p:spPr>
          <a:xfrm>
            <a:off x="1325880" y="51663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Правата се проверяват на сървъра (HTTP 403) – скриването на бутоните в интерфейса е само удобство.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„Провери обслужване“ – как работи</a:t>
            </a:r>
            <a:endParaRPr lang="en-US" sz="3400" dirty="0"/>
          </a:p>
        </p:txBody>
      </p:sp>
      <p:sp>
        <p:nvSpPr>
          <p:cNvPr id="3" name="step circle 1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tep number 1"/>
          <p:cNvSpPr txBox="1"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tep title 1"/>
          <p:cNvSpPr txBox="1"/>
          <p:nvPr/>
        </p:nvSpPr>
        <p:spPr>
          <a:xfrm>
            <a:off x="1371600" y="1399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Последно извършване</a:t>
            </a:r>
            <a:endParaRPr lang="en-US" sz="1800" dirty="0"/>
          </a:p>
        </p:txBody>
      </p:sp>
      <p:sp>
        <p:nvSpPr>
          <p:cNvPr id="6" name="step text 1"/>
          <p:cNvSpPr txBox="1"/>
          <p:nvPr/>
        </p:nvSpPr>
        <p:spPr>
          <a:xfrm>
            <a:off x="137160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Последният запис от този вид или „последно извършено“ от плана</a:t>
            </a:r>
            <a:endParaRPr lang="en-US" sz="1400" dirty="0"/>
          </a:p>
        </p:txBody>
      </p:sp>
      <p:sp>
        <p:nvSpPr>
          <p:cNvPr id="7" name="step circle 2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tep number 2"/>
          <p:cNvSpPr txBox="1"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step title 2"/>
          <p:cNvSpPr txBox="1"/>
          <p:nvPr/>
        </p:nvSpPr>
        <p:spPr>
          <a:xfrm>
            <a:off x="1371600" y="2724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Срок</a:t>
            </a:r>
            <a:endParaRPr lang="en-US" sz="1800" dirty="0"/>
          </a:p>
        </p:txBody>
      </p:sp>
      <p:sp>
        <p:nvSpPr>
          <p:cNvPr id="10" name="step text 2"/>
          <p:cNvSpPr txBox="1"/>
          <p:nvPr/>
        </p:nvSpPr>
        <p:spPr>
          <a:xfrm>
            <a:off x="1371600" y="31089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Дата + интервал в дни и километраж + интервал в км</a:t>
            </a:r>
            <a:endParaRPr lang="en-US" sz="1400" dirty="0"/>
          </a:p>
        </p:txBody>
      </p:sp>
      <p:sp>
        <p:nvSpPr>
          <p:cNvPr id="11" name="step circle 3"/>
          <p:cNvSpPr/>
          <p:nvPr/>
        </p:nvSpPr>
        <p:spPr>
          <a:xfrm>
            <a:off x="548640" y="4069080"/>
            <a:ext cx="640080" cy="6400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2" name="step number 3"/>
          <p:cNvSpPr txBox="1"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step title 3"/>
          <p:cNvSpPr txBox="1"/>
          <p:nvPr/>
        </p:nvSpPr>
        <p:spPr>
          <a:xfrm>
            <a:off x="1371600" y="4050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Ниво</a:t>
            </a:r>
            <a:endParaRPr lang="en-US" sz="1800" dirty="0"/>
          </a:p>
        </p:txBody>
      </p:sp>
      <p:sp>
        <p:nvSpPr>
          <p:cNvPr id="14" name="step text 3"/>
          <p:cNvSpPr txBox="1"/>
          <p:nvPr/>
        </p:nvSpPr>
        <p:spPr>
          <a:xfrm>
            <a:off x="1371600" y="4434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</a:rPr>
              <a:t>Просрочено · Предстои (≤ 30 дни или ≤ 1000 км) · Наред</a:t>
            </a:r>
            <a:endParaRPr lang="en-US" sz="1400" dirty="0"/>
          </a:p>
        </p:txBody>
      </p:sp>
      <p:sp>
        <p:nvSpPr>
          <p:cNvPr id="15" name="rule note"/>
          <p:cNvSpPr txBox="1"/>
          <p:nvPr/>
        </p:nvSpPr>
        <p:spPr>
          <a:xfrm>
            <a:off x="548640" y="5440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833A"/>
                </a:solidFill>
              </a:rPr>
              <a:t>Решава това, което настъпи първо – датата или пробегът. Прогнозна дата по средния дневен пробег.</a:t>
            </a:r>
            <a:endParaRPr lang="en-US" sz="1500" dirty="0"/>
          </a:p>
        </p:txBody>
      </p:sp>
      <p:pic>
        <p:nvPicPr>
          <p:cNvPr id="16" name="check screenshot" descr="Резултат от проверката: просрочени дейности в червено, предстоящи в жълт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417320"/>
            <a:ext cx="5943600" cy="371520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B2A3A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Целост на данните</a:t>
            </a:r>
            <a:endParaRPr lang="en-US" sz="3400" dirty="0"/>
          </a:p>
        </p:txBody>
      </p:sp>
      <p:pic>
        <p:nvPicPr>
          <p:cNvPr id="3" name="integrity screenshot" descr="Грешка: километражът е по-малък от началния пробег на МП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37719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B2A3A">
                <a:alpha val="18000"/>
              </a:srgbClr>
            </a:outerShdw>
          </a:effectLst>
        </p:spPr>
      </p:pic>
      <p:sp>
        <p:nvSpPr>
          <p:cNvPr id="4" name="integrity rules"/>
          <p:cNvSpPr txBox="1"/>
          <p:nvPr/>
        </p:nvSpPr>
        <p:spPr>
          <a:xfrm>
            <a:off x="6949440" y="141732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Километражът не може да намалява във времето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Над 2 000 км за ден → вероятна грешка при въвеждане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Запис само за съществуващо МПС (външни ключове)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МПС с история не се изтрива – сменя се статусът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Суми в центове – без грешки от закръгляване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Изтриване само след потвърждение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Удобен интерфейс</a:t>
            </a:r>
            <a:endParaRPr lang="en-US" sz="3400" dirty="0"/>
          </a:p>
        </p:txBody>
      </p:sp>
      <p:pic>
        <p:nvPicPr>
          <p:cNvPr id="3" name="trip return screenshot" descr="Формуляр за връщане от курс с пробег, гориво и пробле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230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B2A3A">
                <a:alpha val="18000"/>
              </a:srgbClr>
            </a:outerShdw>
          </a:effectLst>
        </p:spPr>
      </p:pic>
      <p:pic>
        <p:nvPicPr>
          <p:cNvPr id="4" name="vehicle screenshot" descr="Карта на МПС с план за поддръжка и истори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230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B2A3A">
                <a:alpha val="18000"/>
              </a:srgbClr>
            </a:outerShdw>
          </a:effectLst>
        </p:spPr>
      </p:pic>
      <p:sp>
        <p:nvSpPr>
          <p:cNvPr id="5" name="caption left"/>
          <p:cNvSpPr txBox="1"/>
          <p:nvPr/>
        </p:nvSpPr>
        <p:spPr>
          <a:xfrm>
            <a:off x="548640" y="4789627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</a:rPr>
              <a:t>Връщане от курс: нов пробег, гориво и проблем в един формуляр</a:t>
            </a:r>
            <a:endParaRPr lang="en-US" sz="1300" dirty="0"/>
          </a:p>
        </p:txBody>
      </p:sp>
      <p:sp>
        <p:nvSpPr>
          <p:cNvPr id="6" name="caption right"/>
          <p:cNvSpPr txBox="1"/>
          <p:nvPr/>
        </p:nvSpPr>
        <p:spPr>
          <a:xfrm>
            <a:off x="6217920" y="4789627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</a:rPr>
              <a:t>Карта на МПС: план, застраховки, история и разходи</a:t>
            </a:r>
            <a:endParaRPr lang="en-US" sz="1300" dirty="0"/>
          </a:p>
        </p:txBody>
      </p:sp>
      <p:sp>
        <p:nvSpPr>
          <p:cNvPr id="7" name="chip 1"/>
          <p:cNvSpPr/>
          <p:nvPr/>
        </p:nvSpPr>
        <p:spPr>
          <a:xfrm>
            <a:off x="548640" y="5440680"/>
            <a:ext cx="34747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ip text 1"/>
          <p:cNvSpPr txBox="1"/>
          <p:nvPr/>
        </p:nvSpPr>
        <p:spPr>
          <a:xfrm>
            <a:off x="73152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Километражът се попълва сам</a:t>
            </a:r>
            <a:endParaRPr lang="en-US" sz="1500" dirty="0"/>
          </a:p>
        </p:txBody>
      </p:sp>
      <p:sp>
        <p:nvSpPr>
          <p:cNvPr id="9" name="chip 2"/>
          <p:cNvSpPr/>
          <p:nvPr/>
        </p:nvSpPr>
        <p:spPr>
          <a:xfrm>
            <a:off x="4297680" y="5440680"/>
            <a:ext cx="34747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hip text 2"/>
          <p:cNvSpPr txBox="1"/>
          <p:nvPr/>
        </p:nvSpPr>
        <p:spPr>
          <a:xfrm>
            <a:off x="448056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Сумата се изчислява сама</a:t>
            </a:r>
            <a:endParaRPr lang="en-US" sz="1500" dirty="0"/>
          </a:p>
        </p:txBody>
      </p:sp>
      <p:sp>
        <p:nvSpPr>
          <p:cNvPr id="11" name="chip 3"/>
          <p:cNvSpPr/>
          <p:nvPr/>
        </p:nvSpPr>
        <p:spPr>
          <a:xfrm>
            <a:off x="8046720" y="5440680"/>
            <a:ext cx="34747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hip text 3"/>
          <p:cNvSpPr txBox="1"/>
          <p:nvPr/>
        </p:nvSpPr>
        <p:spPr>
          <a:xfrm>
            <a:off x="822960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Дати и суми в български формат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Справки и разходи</a:t>
            </a:r>
            <a:endParaRPr lang="en-US" sz="3400" dirty="0"/>
          </a:p>
        </p:txBody>
      </p:sp>
      <p:graphicFrame>
        <p:nvGraphicFramePr>
          <p:cNvPr id="3" name="costs chart" descr=""/>
          <p:cNvGraphicFramePr/>
          <p:nvPr/>
        </p:nvGraphicFramePr>
        <p:xfrm>
          <a:off x="548640" y="132588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port 1 circle"/>
          <p:cNvSpPr/>
          <p:nvPr/>
        </p:nvSpPr>
        <p:spPr>
          <a:xfrm>
            <a:off x="8046720" y="1417320"/>
            <a:ext cx="502920" cy="50292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5" name="repor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1543050"/>
            <a:ext cx="251460" cy="251460"/>
          </a:xfrm>
          <a:prstGeom prst="rect">
            <a:avLst/>
          </a:prstGeom>
        </p:spPr>
      </p:pic>
      <p:sp>
        <p:nvSpPr>
          <p:cNvPr id="6" name="report name 1"/>
          <p:cNvSpPr txBox="1"/>
          <p:nvPr/>
        </p:nvSpPr>
        <p:spPr>
          <a:xfrm>
            <a:off x="873252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</a:rPr>
              <a:t>График на обслужванията</a:t>
            </a:r>
            <a:endParaRPr lang="en-US" sz="1600" dirty="0"/>
          </a:p>
        </p:txBody>
      </p:sp>
      <p:sp>
        <p:nvSpPr>
          <p:cNvPr id="7" name="report 2 circle"/>
          <p:cNvSpPr/>
          <p:nvPr/>
        </p:nvSpPr>
        <p:spPr>
          <a:xfrm>
            <a:off x="8046720" y="2167128"/>
            <a:ext cx="502920" cy="50292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8" name="repor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50" y="2292858"/>
            <a:ext cx="251460" cy="251460"/>
          </a:xfrm>
          <a:prstGeom prst="rect">
            <a:avLst/>
          </a:prstGeom>
        </p:spPr>
      </p:pic>
      <p:sp>
        <p:nvSpPr>
          <p:cNvPr id="9" name="report name 2"/>
          <p:cNvSpPr txBox="1"/>
          <p:nvPr/>
        </p:nvSpPr>
        <p:spPr>
          <a:xfrm>
            <a:off x="8732520" y="2167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</a:rPr>
              <a:t>Разходи по МПС и €/км</a:t>
            </a:r>
            <a:endParaRPr lang="en-US" sz="1600" dirty="0"/>
          </a:p>
        </p:txBody>
      </p:sp>
      <p:sp>
        <p:nvSpPr>
          <p:cNvPr id="10" name="report 3 circle"/>
          <p:cNvSpPr/>
          <p:nvPr/>
        </p:nvSpPr>
        <p:spPr>
          <a:xfrm>
            <a:off x="8046720" y="2916936"/>
            <a:ext cx="502920" cy="50292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11" name="repor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3042666"/>
            <a:ext cx="251460" cy="251460"/>
          </a:xfrm>
          <a:prstGeom prst="rect">
            <a:avLst/>
          </a:prstGeom>
        </p:spPr>
      </p:pic>
      <p:sp>
        <p:nvSpPr>
          <p:cNvPr id="12" name="report name 3"/>
          <p:cNvSpPr txBox="1"/>
          <p:nvPr/>
        </p:nvSpPr>
        <p:spPr>
          <a:xfrm>
            <a:off x="8732520" y="29169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</a:rPr>
              <a:t>Неактивни МПС</a:t>
            </a:r>
            <a:endParaRPr lang="en-US" sz="1600" dirty="0"/>
          </a:p>
        </p:txBody>
      </p:sp>
      <p:sp>
        <p:nvSpPr>
          <p:cNvPr id="13" name="report 4 circle"/>
          <p:cNvSpPr/>
          <p:nvPr/>
        </p:nvSpPr>
        <p:spPr>
          <a:xfrm>
            <a:off x="8046720" y="3666744"/>
            <a:ext cx="502920" cy="50292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14" name="report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3792474"/>
            <a:ext cx="251460" cy="251460"/>
          </a:xfrm>
          <a:prstGeom prst="rect">
            <a:avLst/>
          </a:prstGeom>
        </p:spPr>
      </p:pic>
      <p:sp>
        <p:nvSpPr>
          <p:cNvPr id="15" name="report name 4"/>
          <p:cNvSpPr txBox="1"/>
          <p:nvPr/>
        </p:nvSpPr>
        <p:spPr>
          <a:xfrm>
            <a:off x="8732520" y="36667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</a:rPr>
              <a:t>Разход на гориво л/100 км</a:t>
            </a:r>
            <a:endParaRPr lang="en-US" sz="1600" dirty="0"/>
          </a:p>
        </p:txBody>
      </p:sp>
      <p:sp>
        <p:nvSpPr>
          <p:cNvPr id="16" name="report 5 circle"/>
          <p:cNvSpPr/>
          <p:nvPr/>
        </p:nvSpPr>
        <p:spPr>
          <a:xfrm>
            <a:off x="8046720" y="4416552"/>
            <a:ext cx="502920" cy="50292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17" name="report 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450" y="4542282"/>
            <a:ext cx="251460" cy="251460"/>
          </a:xfrm>
          <a:prstGeom prst="rect">
            <a:avLst/>
          </a:prstGeom>
        </p:spPr>
      </p:pic>
      <p:sp>
        <p:nvSpPr>
          <p:cNvPr id="18" name="report name 5"/>
          <p:cNvSpPr txBox="1"/>
          <p:nvPr/>
        </p:nvSpPr>
        <p:spPr>
          <a:xfrm>
            <a:off x="8732520" y="44165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</a:rPr>
              <a:t>Ползване по шофьори</a:t>
            </a:r>
            <a:endParaRPr lang="en-US" sz="1600" dirty="0"/>
          </a:p>
        </p:txBody>
      </p:sp>
      <p:sp>
        <p:nvSpPr>
          <p:cNvPr id="19" name="export card"/>
          <p:cNvSpPr/>
          <p:nvPr/>
        </p:nvSpPr>
        <p:spPr>
          <a:xfrm>
            <a:off x="8046720" y="5257800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export text"/>
          <p:cNvSpPr txBox="1"/>
          <p:nvPr/>
        </p:nvSpPr>
        <p:spPr>
          <a:xfrm>
            <a:off x="8229600" y="5257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Експорт: CSV за Excel и .ics за Google Calendar / Outlook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Тестове и сигурност</a:t>
            </a:r>
            <a:endParaRPr lang="en-US" sz="3400" dirty="0"/>
          </a:p>
        </p:txBody>
      </p:sp>
      <p:sp>
        <p:nvSpPr>
          <p:cNvPr id="3" name="big stat 1"/>
          <p:cNvSpPr txBox="1"/>
          <p:nvPr/>
        </p:nvSpPr>
        <p:spPr>
          <a:xfrm>
            <a:off x="54864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</a:t>
            </a:r>
            <a:endParaRPr lang="en-US" sz="6600" dirty="0"/>
          </a:p>
        </p:txBody>
      </p:sp>
      <p:sp>
        <p:nvSpPr>
          <p:cNvPr id="4" name="big stat label 1"/>
          <p:cNvSpPr txBox="1"/>
          <p:nvPr/>
        </p:nvSpPr>
        <p:spPr>
          <a:xfrm>
            <a:off x="54864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BDD"/>
                </a:solidFill>
              </a:rPr>
              <a:t>автоматични теста – всички успешни</a:t>
            </a:r>
            <a:endParaRPr lang="en-US" sz="1600" dirty="0"/>
          </a:p>
        </p:txBody>
      </p:sp>
      <p:sp>
        <p:nvSpPr>
          <p:cNvPr id="5" name="big stat 2"/>
          <p:cNvSpPr txBox="1"/>
          <p:nvPr/>
        </p:nvSpPr>
        <p:spPr>
          <a:xfrm>
            <a:off x="429768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89 %</a:t>
            </a:r>
            <a:endParaRPr lang="en-US" sz="6600" dirty="0"/>
          </a:p>
        </p:txBody>
      </p:sp>
      <p:sp>
        <p:nvSpPr>
          <p:cNvPr id="6" name="big stat label 2"/>
          <p:cNvSpPr txBox="1"/>
          <p:nvPr/>
        </p:nvSpPr>
        <p:spPr>
          <a:xfrm>
            <a:off x="42976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BDD"/>
                </a:solidFill>
              </a:rPr>
              <a:t>покритие на кода</a:t>
            </a:r>
            <a:endParaRPr lang="en-US" sz="1600" dirty="0"/>
          </a:p>
        </p:txBody>
      </p:sp>
      <p:sp>
        <p:nvSpPr>
          <p:cNvPr id="7" name="big stat 3"/>
          <p:cNvSpPr txBox="1"/>
          <p:nvPr/>
        </p:nvSpPr>
        <p:spPr>
          <a:xfrm>
            <a:off x="804672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600" dirty="0"/>
          </a:p>
        </p:txBody>
      </p:sp>
      <p:sp>
        <p:nvSpPr>
          <p:cNvPr id="8" name="big stat label 3"/>
          <p:cNvSpPr txBox="1"/>
          <p:nvPr/>
        </p:nvSpPr>
        <p:spPr>
          <a:xfrm>
            <a:off x="804672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BDD"/>
                </a:solidFill>
              </a:rPr>
              <a:t>роли с права, проверявани на сървъра</a:t>
            </a:r>
            <a:endParaRPr lang="en-US" sz="1600" dirty="0"/>
          </a:p>
        </p:txBody>
      </p:sp>
      <p:sp>
        <p:nvSpPr>
          <p:cNvPr id="9" name="security card 1"/>
          <p:cNvSpPr/>
          <p:nvPr/>
        </p:nvSpPr>
        <p:spPr>
          <a:xfrm>
            <a:off x="548640" y="365760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security 1 circle"/>
          <p:cNvSpPr/>
          <p:nvPr/>
        </p:nvSpPr>
        <p:spPr>
          <a:xfrm>
            <a:off x="749808" y="3813048"/>
            <a:ext cx="603504" cy="603504"/>
          </a:xfrm>
          <a:prstGeom prst="ellipse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</p:sp>
      <p:pic>
        <p:nvPicPr>
          <p:cNvPr id="11" name="securit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3963924"/>
            <a:ext cx="301752" cy="301752"/>
          </a:xfrm>
          <a:prstGeom prst="rect">
            <a:avLst/>
          </a:prstGeom>
        </p:spPr>
      </p:pic>
      <p:sp>
        <p:nvSpPr>
          <p:cNvPr id="12" name="security text 1"/>
          <p:cNvSpPr txBox="1"/>
          <p:nvPr/>
        </p:nvSpPr>
        <p:spPr>
          <a:xfrm>
            <a:off x="1554480" y="365760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Хеширани пароли, заключване след 5 грешни опита</a:t>
            </a:r>
            <a:endParaRPr lang="en-US" sz="1600" dirty="0"/>
          </a:p>
        </p:txBody>
      </p:sp>
      <p:sp>
        <p:nvSpPr>
          <p:cNvPr id="13" name="security card 2"/>
          <p:cNvSpPr/>
          <p:nvPr/>
        </p:nvSpPr>
        <p:spPr>
          <a:xfrm>
            <a:off x="6172200" y="365760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ecurity 2 circle"/>
          <p:cNvSpPr/>
          <p:nvPr/>
        </p:nvSpPr>
        <p:spPr>
          <a:xfrm>
            <a:off x="6373368" y="3813048"/>
            <a:ext cx="603504" cy="603504"/>
          </a:xfrm>
          <a:prstGeom prst="ellipse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</p:sp>
      <p:pic>
        <p:nvPicPr>
          <p:cNvPr id="15" name="securit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244" y="3963924"/>
            <a:ext cx="301752" cy="301752"/>
          </a:xfrm>
          <a:prstGeom prst="rect">
            <a:avLst/>
          </a:prstGeom>
        </p:spPr>
      </p:pic>
      <p:sp>
        <p:nvSpPr>
          <p:cNvPr id="16" name="security text 2"/>
          <p:cNvSpPr txBox="1"/>
          <p:nvPr/>
        </p:nvSpPr>
        <p:spPr>
          <a:xfrm>
            <a:off x="7178040" y="365760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CSRF токени и Content-Security-Policy</a:t>
            </a:r>
            <a:endParaRPr lang="en-US" sz="1600" dirty="0"/>
          </a:p>
        </p:txBody>
      </p:sp>
      <p:sp>
        <p:nvSpPr>
          <p:cNvPr id="17" name="security card 3"/>
          <p:cNvSpPr/>
          <p:nvPr/>
        </p:nvSpPr>
        <p:spPr>
          <a:xfrm>
            <a:off x="548640" y="480060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security 3 circle"/>
          <p:cNvSpPr/>
          <p:nvPr/>
        </p:nvSpPr>
        <p:spPr>
          <a:xfrm>
            <a:off x="749808" y="4956048"/>
            <a:ext cx="603504" cy="603504"/>
          </a:xfrm>
          <a:prstGeom prst="ellipse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</p:sp>
      <p:pic>
        <p:nvPicPr>
          <p:cNvPr id="19" name="securit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5106924"/>
            <a:ext cx="301752" cy="301752"/>
          </a:xfrm>
          <a:prstGeom prst="rect">
            <a:avLst/>
          </a:prstGeom>
        </p:spPr>
      </p:pic>
      <p:sp>
        <p:nvSpPr>
          <p:cNvPr id="20" name="security text 3"/>
          <p:cNvSpPr txBox="1"/>
          <p:nvPr/>
        </p:nvSpPr>
        <p:spPr>
          <a:xfrm>
            <a:off x="1554480" y="480060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Защита от SQL injection и XSS (тествано)</a:t>
            </a:r>
            <a:endParaRPr lang="en-US" sz="1600" dirty="0"/>
          </a:p>
        </p:txBody>
      </p:sp>
      <p:sp>
        <p:nvSpPr>
          <p:cNvPr id="21" name="security card 4"/>
          <p:cNvSpPr/>
          <p:nvPr/>
        </p:nvSpPr>
        <p:spPr>
          <a:xfrm>
            <a:off x="6172200" y="480060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security 4 circle"/>
          <p:cNvSpPr/>
          <p:nvPr/>
        </p:nvSpPr>
        <p:spPr>
          <a:xfrm>
            <a:off x="6373368" y="4956048"/>
            <a:ext cx="603504" cy="603504"/>
          </a:xfrm>
          <a:prstGeom prst="ellipse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</p:sp>
      <p:pic>
        <p:nvPicPr>
          <p:cNvPr id="23" name="security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44" y="5106924"/>
            <a:ext cx="301752" cy="301752"/>
          </a:xfrm>
          <a:prstGeom prst="rect">
            <a:avLst/>
          </a:prstGeom>
        </p:spPr>
      </p:pic>
      <p:sp>
        <p:nvSpPr>
          <p:cNvPr id="24" name="security text 4"/>
          <p:cNvSpPr txBox="1"/>
          <p:nvPr/>
        </p:nvSpPr>
        <p:spPr>
          <a:xfrm>
            <a:off x="7178040" y="480060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Журнал: кой какво е направил и кога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B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Внедряване и заключение</a:t>
            </a:r>
            <a:endParaRPr lang="en-US" sz="3400" dirty="0"/>
          </a:p>
        </p:txBody>
      </p:sp>
      <p:sp>
        <p:nvSpPr>
          <p:cNvPr id="3" name="deploy card"/>
          <p:cNvSpPr/>
          <p:nvPr/>
        </p:nvSpPr>
        <p:spPr>
          <a:xfrm>
            <a:off x="548640" y="137160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deploy 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</p:sp>
      <p:pic>
        <p:nvPicPr>
          <p:cNvPr id="5" name="deplo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6" name="deploy title"/>
          <p:cNvSpPr txBox="1"/>
          <p:nvPr/>
        </p:nvSpPr>
        <p:spPr>
          <a:xfrm>
            <a:off x="164592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Внедряване</a:t>
            </a:r>
            <a:endParaRPr lang="en-US" sz="2000" dirty="0"/>
          </a:p>
        </p:txBody>
      </p:sp>
      <p:sp>
        <p:nvSpPr>
          <p:cNvPr id="7" name="deploy list"/>
          <p:cNvSpPr txBox="1"/>
          <p:nvPr/>
        </p:nvSpPr>
        <p:spPr>
          <a:xfrm>
            <a:off x="822960" y="24688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EF3F8"/>
                </a:solidFill>
              </a:rPr>
              <a:t>docker compose up -d – готово за минути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EF3F8"/>
                </a:solidFill>
              </a:rPr>
              <a:t>Автоматичен рестарт и проверка /health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EF3F8"/>
                </a:solidFill>
              </a:rPr>
              <a:t>Ежедневно резервно копие, пазят се 14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EF3F8"/>
                </a:solidFill>
              </a:rPr>
              <a:t>Възстановяване с една команда</a:t>
            </a:r>
            <a:endParaRPr lang="en-US" sz="1600" dirty="0"/>
          </a:p>
        </p:txBody>
      </p:sp>
      <p:sp>
        <p:nvSpPr>
          <p:cNvPr id="8" name="future card"/>
          <p:cNvSpPr/>
          <p:nvPr/>
        </p:nvSpPr>
        <p:spPr>
          <a:xfrm>
            <a:off x="6172200" y="137160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future circle"/>
          <p:cNvSpPr/>
          <p:nvPr/>
        </p:nvSpPr>
        <p:spPr>
          <a:xfrm>
            <a:off x="6446520" y="1645920"/>
            <a:ext cx="640080" cy="640080"/>
          </a:xfrm>
          <a:prstGeom prst="ellipse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</p:sp>
      <p:pic>
        <p:nvPicPr>
          <p:cNvPr id="10" name="futur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805940"/>
            <a:ext cx="320040" cy="320040"/>
          </a:xfrm>
          <a:prstGeom prst="rect">
            <a:avLst/>
          </a:prstGeom>
        </p:spPr>
      </p:pic>
      <p:sp>
        <p:nvSpPr>
          <p:cNvPr id="11" name="future title"/>
          <p:cNvSpPr txBox="1"/>
          <p:nvPr/>
        </p:nvSpPr>
        <p:spPr>
          <a:xfrm>
            <a:off x="726948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Бъдещо развитие</a:t>
            </a:r>
            <a:endParaRPr lang="en-US" sz="2000" dirty="0"/>
          </a:p>
        </p:txBody>
      </p:sp>
      <p:sp>
        <p:nvSpPr>
          <p:cNvPr id="12" name="future list"/>
          <p:cNvSpPr txBox="1"/>
          <p:nvPr/>
        </p:nvSpPr>
        <p:spPr>
          <a:xfrm>
            <a:off x="6446520" y="24688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EF3F8"/>
                </a:solidFill>
              </a:rPr>
              <a:t>Напомняния по имейл и SMS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EF3F8"/>
                </a:solidFill>
              </a:rPr>
              <a:t>Мобилен изглед за шофьорите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EF3F8"/>
                </a:solidFill>
              </a:rPr>
              <a:t>Импорт от карти за гориво и GPS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EF3F8"/>
                </a:solidFill>
              </a:rPr>
              <a:t>PostgreSQL при много клонове</a:t>
            </a:r>
            <a:endParaRPr lang="en-US" sz="1600" dirty="0"/>
          </a:p>
        </p:txBody>
      </p:sp>
      <p:sp>
        <p:nvSpPr>
          <p:cNvPr id="13" name="thanks"/>
          <p:cNvSpPr txBox="1"/>
          <p:nvPr/>
        </p:nvSpPr>
        <p:spPr>
          <a:xfrm>
            <a:off x="548640" y="4983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Благодаря за вниманието! Въпроси?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B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topark">
  <a:themeElements>
    <a:clrScheme name="Avtopark">
      <a:dk1>
        <a:srgbClr val="1B2A3A"/>
      </a:dk1>
      <a:lt1>
        <a:srgbClr val="FFFFFF"/>
      </a:lt1>
      <a:dk2>
        <a:srgbClr val="163A5A"/>
      </a:dk2>
      <a:lt2>
        <a:srgbClr val="EEF3F8"/>
      </a:lt2>
      <a:accent1>
        <a:srgbClr val="1F4E79"/>
      </a:accent1>
      <a:accent2>
        <a:srgbClr val="E8833A"/>
      </a:accent2>
      <a:accent3>
        <a:srgbClr val="2F7ED8"/>
      </a:accent3>
      <a:accent4>
        <a:srgbClr val="6F42C1"/>
      </a:accent4>
      <a:accent5>
        <a:srgbClr val="2E8B57"/>
      </a:accent5>
      <a:accent6>
        <a:srgbClr val="C0392B"/>
      </a:accent6>
      <a:hlink>
        <a:srgbClr val="1F5F99"/>
      </a:hlink>
      <a:folHlink>
        <a:srgbClr val="6F42C1"/>
      </a:folHlink>
    </a:clrScheme>
    <a:fontScheme name="Avtop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за управление на автопарк</dc:title>
  <dc:subject>Курсов проект – Информационни системи, Вариант 19</dc:subject>
  <dc:creator>[Име Фамилия]</dc:creator>
  <cp:lastModifiedBy>[Име Фамилия]</cp:lastModifiedBy>
  <cp:revision>1</cp:revision>
  <dcterms:created xsi:type="dcterms:W3CDTF">2026-10-07T11:03:07Z</dcterms:created>
  <dcterms:modified xsi:type="dcterms:W3CDTF">2026-10-07T11:03:07Z</dcterms:modified>
</cp:coreProperties>
</file>